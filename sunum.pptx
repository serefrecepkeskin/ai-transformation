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310128"/>
            <a:ext cx="2011680" cy="82296"/>
          </a:xfrm>
          <a:prstGeom prst="rect">
            <a:avLst/>
          </a:prstGeom>
          <a:solidFill>
            <a:srgbClr val="EB6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FFFFFF"/>
                </a:solidFill>
              </a:rPr>
              <a:t>AI Dönüşümü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9D8EA"/>
                </a:solidFill>
              </a:rPr>
              <a:t>GitHub Copilot ile AI-Driven Development Standartları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FB4CC"/>
                </a:solidFill>
              </a:rPr>
              <a:t>Mühendislik · Ağustos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B690B"/>
                </a:solidFill>
              </a:rPr>
              <a:t>PROBLEM → ÇÖZÜM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3A5C"/>
                </a:solidFill>
              </a:rPr>
              <a:t>Neden standart bir yapı?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61872"/>
            <a:ext cx="1371600" cy="54864"/>
          </a:xfrm>
          <a:prstGeom prst="rect">
            <a:avLst/>
          </a:prstGeom>
          <a:solidFill>
            <a:srgbClr val="EB6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B6B6B"/>
                </a:solidFill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3291840" cy="1143000"/>
          </a:xfrm>
          <a:prstGeom prst="round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Bilgi kafalarda</a:t>
            </a:r>
          </a:p>
          <a:p>
            <a:pPr algn="ctr"/>
            <a:r>
              <a:rPr sz="1300" b="0">
                <a:solidFill>
                  <a:srgbClr val="D8E2EF"/>
                </a:solidFill>
              </a:rPr>
              <a:t>proje bilgisi kişilerde ve kaybolan chat'lerde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83080"/>
            <a:ext cx="3291840" cy="1143000"/>
          </a:xfrm>
          <a:prstGeom prst="round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Tutarsız çıktı</a:t>
            </a:r>
          </a:p>
          <a:p>
            <a:pPr algn="ctr"/>
            <a:r>
              <a:rPr sz="1300" b="0">
                <a:solidFill>
                  <a:srgbClr val="D8E2EF"/>
                </a:solidFill>
              </a:rPr>
              <a:t>herkes farklı prompt yazıyor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83080"/>
            <a:ext cx="3291840" cy="1143000"/>
          </a:xfrm>
          <a:prstGeom prst="round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Token maliyeti</a:t>
            </a:r>
          </a:p>
          <a:p>
            <a:pPr algn="ctr"/>
            <a:r>
              <a:rPr sz="1300" b="0">
                <a:solidFill>
                  <a:srgbClr val="D8E2EF"/>
                </a:solidFill>
              </a:rPr>
              <a:t>uzun, dağınık dokümanlar her istekte ödeniyor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52160" y="3154680"/>
            <a:ext cx="457200" cy="411480"/>
          </a:xfrm>
          <a:prstGeom prst="downArrow">
            <a:avLst/>
          </a:prstGeom>
          <a:solidFill>
            <a:srgbClr val="EB6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54480" y="3794760"/>
            <a:ext cx="9144000" cy="12344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900" b="1">
                <a:solidFill>
                  <a:srgbClr val="FFFFFF"/>
                </a:solidFill>
              </a:rPr>
              <a:t>Her repoda aynı iskelet</a:t>
            </a:r>
          </a:p>
          <a:p>
            <a:pPr algn="ctr"/>
            <a:r>
              <a:rPr sz="1600" b="0">
                <a:solidFill>
                  <a:srgbClr val="D8E2EF"/>
                </a:solidFill>
              </a:rPr>
              <a:t>AGENTS.md + docs/ + skills + hooks — bilgi repoda yaşar, PR ile evrilir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5257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333333"/>
                </a:solidFill>
              </a:rPr>
              <a:t>Copilot bu dosyaların hepsini native okur: coding agent, CLI ve VS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B690B"/>
                </a:solidFill>
              </a:rPr>
              <a:t>MİMARİ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3A5C"/>
                </a:solidFill>
              </a:rPr>
              <a:t>Bir reponun iskeleti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61872"/>
            <a:ext cx="1371600" cy="54864"/>
          </a:xfrm>
          <a:prstGeom prst="rect">
            <a:avLst/>
          </a:prstGeom>
          <a:solidFill>
            <a:srgbClr val="EB6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B6B6B"/>
                </a:solidFill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6949440" cy="4572000"/>
          </a:xfrm>
          <a:prstGeom prst="roundRect">
            <a:avLst/>
          </a:prstGeom>
          <a:solidFill>
            <a:srgbClr val="F1F6FD"/>
          </a:solidFill>
          <a:ln w="15875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B3A5C"/>
                </a:solidFill>
              </a:rPr>
              <a:t>repo/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286000"/>
            <a:ext cx="3017520" cy="10972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AGENTS.md</a:t>
            </a:r>
          </a:p>
          <a:p>
            <a:pPr algn="ctr"/>
            <a:r>
              <a:rPr sz="1100" b="0">
                <a:solidFill>
                  <a:srgbClr val="D8E2EF"/>
                </a:solidFill>
              </a:rPr>
              <a:t>anayasa: kurallar + komutlar (≤130 satır)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286000"/>
            <a:ext cx="3017520" cy="1097280"/>
          </a:xfrm>
          <a:prstGeom prst="roundRect">
            <a:avLst/>
          </a:prstGeom>
          <a:solidFill>
            <a:srgbClr val="2C5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docs/</a:t>
            </a:r>
          </a:p>
          <a:p>
            <a:pPr algn="ctr"/>
            <a:r>
              <a:rPr sz="1100" b="0">
                <a:solidFill>
                  <a:srgbClr val="D8E2EF"/>
                </a:solidFill>
              </a:rPr>
              <a:t>bilgi tabanı: nasıl · ne · neden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84448"/>
            <a:ext cx="3017520" cy="10972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</a:rPr>
              <a:t>.github/skills/</a:t>
            </a:r>
          </a:p>
          <a:p>
            <a:pPr algn="ctr"/>
            <a:r>
              <a:rPr sz="1100" b="0">
                <a:solidFill>
                  <a:srgbClr val="D8E2EF"/>
                </a:solidFill>
              </a:rPr>
              <a:t>iş tarifleri; gerektiğinde yüklenir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584448"/>
            <a:ext cx="3017520" cy="1097280"/>
          </a:xfrm>
          <a:prstGeom prst="roundRect">
            <a:avLst/>
          </a:prstGeom>
          <a:solidFill>
            <a:srgbClr val="2C5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</a:rPr>
              <a:t>.github/agents/</a:t>
            </a:r>
          </a:p>
          <a:p>
            <a:pPr algn="ctr"/>
            <a:r>
              <a:rPr sz="1100" b="0">
                <a:solidFill>
                  <a:srgbClr val="D8E2EF"/>
                </a:solidFill>
              </a:rPr>
              <a:t>code-reviewer: projeye özel denetçi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882896"/>
            <a:ext cx="3017520" cy="10972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</a:rPr>
              <a:t>.github/hooks/</a:t>
            </a:r>
          </a:p>
          <a:p>
            <a:pPr algn="ctr"/>
            <a:r>
              <a:rPr sz="1100" b="0">
                <a:solidFill>
                  <a:srgbClr val="D8E2EF"/>
                </a:solidFill>
              </a:rPr>
              <a:t>guardrail: format, hatırlatma, SQL reddi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882896"/>
            <a:ext cx="3017520" cy="1097280"/>
          </a:xfrm>
          <a:prstGeom prst="roundRect">
            <a:avLst/>
          </a:prstGeom>
          <a:solidFill>
            <a:srgbClr val="2C5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</a:rPr>
              <a:t>.vscode/</a:t>
            </a:r>
          </a:p>
          <a:p>
            <a:pPr algn="ctr"/>
            <a:r>
              <a:rPr sz="1100" b="0">
                <a:solidFill>
                  <a:srgbClr val="D8E2EF"/>
                </a:solidFill>
              </a:rPr>
              <a:t>komut onay listesi + MCP bağlantıları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377440"/>
            <a:ext cx="3108960" cy="1371600"/>
          </a:xfrm>
          <a:prstGeom prst="roundRect">
            <a:avLst/>
          </a:prstGeom>
          <a:solidFill>
            <a:srgbClr val="EB6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Copilot native okur</a:t>
            </a:r>
          </a:p>
          <a:p>
            <a:pPr algn="ctr"/>
            <a:r>
              <a:rPr sz="1200" b="0">
                <a:solidFill>
                  <a:srgbClr val="D8E2EF"/>
                </a:solidFill>
              </a:rPr>
              <a:t>coding agent · CLI · VS Code agent mode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114800"/>
            <a:ext cx="3108960" cy="1371600"/>
          </a:xfrm>
          <a:prstGeom prst="roundRect">
            <a:avLst/>
          </a:prstGeom>
          <a:solidFill>
            <a:srgbClr val="2C5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Sektör standardı</a:t>
            </a:r>
          </a:p>
          <a:p>
            <a:pPr algn="ctr"/>
            <a:r>
              <a:rPr sz="1200" b="0">
                <a:solidFill>
                  <a:srgbClr val="D8E2EF"/>
                </a:solidFill>
              </a:rPr>
              <a:t>AGENTS.md + agentskills.io — araç değişse de format kalır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B690B"/>
                </a:solidFill>
              </a:rPr>
              <a:t>BİLGİ TABANI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3A5C"/>
                </a:solidFill>
              </a:rPr>
              <a:t>docs/ üç soruyu cevaplar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61872"/>
            <a:ext cx="1371600" cy="54864"/>
          </a:xfrm>
          <a:prstGeom prst="rect">
            <a:avLst/>
          </a:prstGeom>
          <a:solidFill>
            <a:srgbClr val="EB6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B6B6B"/>
                </a:solidFill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3291840" cy="82296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</a:rPr>
              <a:t>NASIL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43200"/>
            <a:ext cx="3291840" cy="1371600"/>
          </a:xfrm>
          <a:prstGeom prst="roundRect">
            <a:avLst/>
          </a:prstGeom>
          <a:solidFill>
            <a:srgbClr val="F1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333333"/>
                </a:solidFill>
              </a:rPr>
              <a:t>engineering/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mimari · stack · kurallar · test · akış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291840" cy="822960"/>
          </a:xfrm>
          <a:prstGeom prst="roundRect">
            <a:avLst/>
          </a:prstGeom>
          <a:solidFill>
            <a:srgbClr val="2C5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</a:rPr>
              <a:t>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743200"/>
            <a:ext cx="3291840" cy="1371600"/>
          </a:xfrm>
          <a:prstGeom prst="roundRect">
            <a:avLst/>
          </a:prstGeom>
          <a:solidFill>
            <a:srgbClr val="F1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333333"/>
                </a:solidFill>
              </a:rPr>
              <a:t>domain/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sözlük · iş kuralları — kavram değişince güncellenir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291840" cy="822960"/>
          </a:xfrm>
          <a:prstGeom prst="roundRect">
            <a:avLst/>
          </a:prstGeom>
          <a:solidFill>
            <a:srgbClr val="EB6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</a:rPr>
              <a:t>NEDEN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743200"/>
            <a:ext cx="3291840" cy="1371600"/>
          </a:xfrm>
          <a:prstGeom prst="roundRect">
            <a:avLst/>
          </a:prstGeom>
          <a:solidFill>
            <a:srgbClr val="F1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333333"/>
                </a:solidFill>
              </a:rPr>
              <a:t>decisions/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numaralı, değişmez ADR'lar — yenisi eskisini geçersiz kılar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54480" y="4663440"/>
            <a:ext cx="9144000" cy="86868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Demir kural: doküman güncellemesi kodla AYNI PR'da gider — drift yasak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715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B6B6B"/>
                </a:solidFill>
              </a:rPr>
              <a:t>AGENTS.md her istekte yüklenir ve kısa kalır; detay docs/'ta, yalnız gerektiğinde okunur.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B690B"/>
                </a:solidFill>
              </a:rPr>
              <a:t>ŞABLONLAR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3A5C"/>
                </a:solidFill>
              </a:rPr>
              <a:t>Dört hazır şablon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61872"/>
            <a:ext cx="1371600" cy="54864"/>
          </a:xfrm>
          <a:prstGeom prst="rect">
            <a:avLst/>
          </a:prstGeom>
          <a:solidFill>
            <a:srgbClr val="EB6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B6B6B"/>
                </a:solidFill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1828800"/>
            <a:ext cx="4754880" cy="18288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Frontend (Next.js/UI)</a:t>
            </a:r>
          </a:p>
          <a:p>
            <a:pPr algn="ctr"/>
            <a:r>
              <a:rPr sz="1250" b="0">
                <a:solidFill>
                  <a:srgbClr val="E2E9F2"/>
                </a:solidFill>
              </a:rPr>
              <a:t>verify-ui: tarayıcıda kanıt (Playwright MCP)</a:t>
            </a:r>
          </a:p>
          <a:p>
            <a:pPr algn="ctr"/>
            <a:r>
              <a:rPr sz="1250" b="0">
                <a:solidFill>
                  <a:srgbClr val="E2E9F2"/>
                </a:solidFill>
              </a:rPr>
              <a:t>i18n zorunlu · a11y ve görsel testler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4754880" cy="1828800"/>
          </a:xfrm>
          <a:prstGeom prst="roundRect">
            <a:avLst/>
          </a:prstGeom>
          <a:solidFill>
            <a:srgbClr val="2C5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Python servisleri</a:t>
            </a:r>
          </a:p>
          <a:p>
            <a:pPr algn="ctr"/>
            <a:r>
              <a:rPr sz="1250" b="0">
                <a:solidFill>
                  <a:srgbClr val="E2E9F2"/>
                </a:solidFill>
              </a:rPr>
              <a:t>sınırda doğrulama · Alembic migration disiplini</a:t>
            </a:r>
          </a:p>
          <a:p>
            <a:pPr algn="ctr"/>
            <a:r>
              <a:rPr sz="1250" b="0">
                <a:solidFill>
                  <a:srgbClr val="E2E9F2"/>
                </a:solidFill>
              </a:rPr>
              <a:t>unit · integration · contract · smoke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3931920"/>
            <a:ext cx="4754880" cy="1828800"/>
          </a:xfrm>
          <a:prstGeom prst="roundRect">
            <a:avLst/>
          </a:prstGeom>
          <a:solidFill>
            <a:srgbClr val="2C5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.NET servisleri</a:t>
            </a:r>
          </a:p>
          <a:p>
            <a:pPr algn="ctr"/>
            <a:r>
              <a:rPr sz="1250" b="0">
                <a:solidFill>
                  <a:srgbClr val="E2E9F2"/>
                </a:solidFill>
              </a:rPr>
              <a:t>nullable/async doğruluğu · EF migration</a:t>
            </a:r>
          </a:p>
          <a:p>
            <a:pPr algn="ctr"/>
            <a:r>
              <a:rPr sz="1250" b="0">
                <a:solidFill>
                  <a:srgbClr val="E2E9F2"/>
                </a:solidFill>
              </a:rPr>
              <a:t>Unit · Integration · Architecture · Smoke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4754880" cy="1828800"/>
          </a:xfrm>
          <a:prstGeom prst="roundRect">
            <a:avLst/>
          </a:prstGeom>
          <a:solidFill>
            <a:srgbClr val="EB6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Analist çalışma alanı</a:t>
            </a:r>
          </a:p>
          <a:p>
            <a:pPr algn="ctr"/>
            <a:r>
              <a:rPr sz="1250" b="0">
                <a:solidFill>
                  <a:srgbClr val="E2E9F2"/>
                </a:solidFill>
              </a:rPr>
              <a:t>read-only DB (MCP) → kanıtlı task.md üretimi</a:t>
            </a:r>
          </a:p>
          <a:p>
            <a:pPr algn="ctr"/>
            <a:r>
              <a:rPr sz="1250" b="0">
                <a:solidFill>
                  <a:srgbClr val="E2E9F2"/>
                </a:solidFill>
              </a:rPr>
              <a:t>yazma SQL'i hook ile reddedilir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B690B"/>
                </a:solidFill>
              </a:rPr>
              <a:t>AKIŞ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3A5C"/>
                </a:solidFill>
              </a:rPr>
              <a:t>Uçtan uca akış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61872"/>
            <a:ext cx="1371600" cy="54864"/>
          </a:xfrm>
          <a:prstGeom prst="rect">
            <a:avLst/>
          </a:prstGeom>
          <a:solidFill>
            <a:srgbClr val="EB6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B6B6B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EB690B"/>
                </a:solidFill>
              </a:rPr>
              <a:t>Analist</a:t>
            </a:r>
          </a:p>
        </p:txBody>
      </p:sp>
      <p:sp>
        <p:nvSpPr>
          <p:cNvPr id="9" name="Chevron 8"/>
          <p:cNvSpPr/>
          <p:nvPr/>
        </p:nvSpPr>
        <p:spPr>
          <a:xfrm>
            <a:off x="822960" y="2057400"/>
            <a:ext cx="2468880" cy="868680"/>
          </a:xfrm>
          <a:prstGeom prst="chevron">
            <a:avLst/>
          </a:prstGeom>
          <a:solidFill>
            <a:srgbClr val="EB6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db-research</a:t>
            </a:r>
          </a:p>
          <a:p>
            <a:pPr algn="ctr"/>
            <a:r>
              <a:rPr sz="1100" b="0">
                <a:solidFill>
                  <a:srgbClr val="D8E2EF"/>
                </a:solidFill>
              </a:rPr>
              <a:t>şemadan kanıt</a:t>
            </a:r>
          </a:p>
        </p:txBody>
      </p:sp>
      <p:sp>
        <p:nvSpPr>
          <p:cNvPr id="10" name="Chevron 9"/>
          <p:cNvSpPr/>
          <p:nvPr/>
        </p:nvSpPr>
        <p:spPr>
          <a:xfrm>
            <a:off x="3063240" y="2057400"/>
            <a:ext cx="2468880" cy="868680"/>
          </a:xfrm>
          <a:prstGeom prst="chevron">
            <a:avLst/>
          </a:prstGeom>
          <a:solidFill>
            <a:srgbClr val="EB6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create-task</a:t>
            </a:r>
          </a:p>
          <a:p>
            <a:pPr algn="ctr"/>
            <a:r>
              <a:rPr sz="1100" b="0">
                <a:solidFill>
                  <a:srgbClr val="D8E2EF"/>
                </a:solidFill>
              </a:rPr>
              <a:t>şablonla yaz</a:t>
            </a:r>
          </a:p>
        </p:txBody>
      </p:sp>
      <p:sp>
        <p:nvSpPr>
          <p:cNvPr id="11" name="Chevron 10"/>
          <p:cNvSpPr/>
          <p:nvPr/>
        </p:nvSpPr>
        <p:spPr>
          <a:xfrm>
            <a:off x="5303520" y="2057400"/>
            <a:ext cx="2468880" cy="868680"/>
          </a:xfrm>
          <a:prstGeom prst="chevron">
            <a:avLst/>
          </a:prstGeom>
          <a:solidFill>
            <a:srgbClr val="EB6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refine-task</a:t>
            </a:r>
          </a:p>
          <a:p>
            <a:pPr algn="ctr"/>
            <a:r>
              <a:rPr sz="1100" b="0">
                <a:solidFill>
                  <a:srgbClr val="D8E2EF"/>
                </a:solidFill>
              </a:rPr>
              <a:t>hazırlık kapısı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057400"/>
            <a:ext cx="1828800" cy="86868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task.md</a:t>
            </a:r>
          </a:p>
          <a:p>
            <a:pPr algn="ctr"/>
            <a:r>
              <a:rPr sz="1100" b="0">
                <a:solidFill>
                  <a:srgbClr val="D8E2EF"/>
                </a:solidFill>
              </a:rPr>
              <a:t>kriter+DoD+test+veri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549640" y="3108960"/>
            <a:ext cx="457200" cy="411480"/>
          </a:xfrm>
          <a:prstGeom prst="downArrow">
            <a:avLst/>
          </a:prstGeom>
          <a:solidFill>
            <a:srgbClr val="EB6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B3A5C"/>
                </a:solidFill>
              </a:rPr>
              <a:t>Geliştirici (Copilot)</a:t>
            </a:r>
          </a:p>
        </p:txBody>
      </p:sp>
      <p:sp>
        <p:nvSpPr>
          <p:cNvPr id="15" name="Chevron 14"/>
          <p:cNvSpPr/>
          <p:nvPr/>
        </p:nvSpPr>
        <p:spPr>
          <a:xfrm>
            <a:off x="822960" y="4023360"/>
            <a:ext cx="2377440" cy="868680"/>
          </a:xfrm>
          <a:prstGeom prst="chevron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implement-task</a:t>
            </a:r>
          </a:p>
          <a:p>
            <a:pPr algn="ctr"/>
            <a:r>
              <a:rPr sz="1000" b="0">
                <a:solidFill>
                  <a:srgbClr val="D8E2EF"/>
                </a:solidFill>
              </a:rPr>
              <a:t>en küçük diff</a:t>
            </a:r>
          </a:p>
        </p:txBody>
      </p:sp>
      <p:sp>
        <p:nvSpPr>
          <p:cNvPr id="16" name="Chevron 15"/>
          <p:cNvSpPr/>
          <p:nvPr/>
        </p:nvSpPr>
        <p:spPr>
          <a:xfrm>
            <a:off x="2971800" y="4023360"/>
            <a:ext cx="2377440" cy="868680"/>
          </a:xfrm>
          <a:prstGeom prst="chevron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doğrula</a:t>
            </a:r>
          </a:p>
          <a:p>
            <a:pPr algn="ctr"/>
            <a:r>
              <a:rPr sz="1000" b="0">
                <a:solidFill>
                  <a:srgbClr val="D8E2EF"/>
                </a:solidFill>
              </a:rPr>
              <a:t>test + tarayıcı</a:t>
            </a:r>
          </a:p>
        </p:txBody>
      </p:sp>
      <p:sp>
        <p:nvSpPr>
          <p:cNvPr id="17" name="Chevron 16"/>
          <p:cNvSpPr/>
          <p:nvPr/>
        </p:nvSpPr>
        <p:spPr>
          <a:xfrm>
            <a:off x="5120640" y="4023360"/>
            <a:ext cx="2377440" cy="868680"/>
          </a:xfrm>
          <a:prstGeom prst="chevron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self-review</a:t>
            </a:r>
          </a:p>
          <a:p>
            <a:pPr algn="ctr"/>
            <a:r>
              <a:rPr sz="1000" b="0">
                <a:solidFill>
                  <a:srgbClr val="D8E2EF"/>
                </a:solidFill>
              </a:rPr>
              <a:t>reviewer ajanı</a:t>
            </a:r>
          </a:p>
        </p:txBody>
      </p:sp>
      <p:sp>
        <p:nvSpPr>
          <p:cNvPr id="18" name="Chevron 17"/>
          <p:cNvSpPr/>
          <p:nvPr/>
        </p:nvSpPr>
        <p:spPr>
          <a:xfrm>
            <a:off x="7269480" y="4023360"/>
            <a:ext cx="2377440" cy="868680"/>
          </a:xfrm>
          <a:prstGeom prst="chevron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PR</a:t>
            </a:r>
          </a:p>
          <a:p>
            <a:pPr algn="ctr"/>
            <a:r>
              <a:rPr sz="1000" b="0">
                <a:solidFill>
                  <a:srgbClr val="D8E2EF"/>
                </a:solidFill>
              </a:rPr>
              <a:t>EN başlık · TR açıklama</a:t>
            </a:r>
          </a:p>
        </p:txBody>
      </p:sp>
      <p:sp>
        <p:nvSpPr>
          <p:cNvPr id="19" name="Chevron 18"/>
          <p:cNvSpPr/>
          <p:nvPr/>
        </p:nvSpPr>
        <p:spPr>
          <a:xfrm>
            <a:off x="9418320" y="4023360"/>
            <a:ext cx="2377440" cy="868680"/>
          </a:xfrm>
          <a:prstGeom prst="chevron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CI + merge</a:t>
            </a:r>
          </a:p>
          <a:p>
            <a:pPr algn="ctr"/>
            <a:r>
              <a:rPr sz="1000" b="0">
                <a:solidFill>
                  <a:srgbClr val="D8E2EF"/>
                </a:solidFill>
              </a:rPr>
              <a:t>kapılar yeşil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578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>
                <a:solidFill>
                  <a:srgbClr val="333333"/>
                </a:solidFill>
              </a:rPr>
              <a:t>Reviewer sıfırdan keşfetmez: PR kanıt taşır — kriter ↔ test eşlemesi, tarayıcı görüntüsü, self-review bulguları.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B690B"/>
                </a:solidFill>
              </a:rPr>
              <a:t>GÜVENCE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3A5C"/>
                </a:solidFill>
              </a:rPr>
              <a:t>Guardrail zinciri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61872"/>
            <a:ext cx="1371600" cy="54864"/>
          </a:xfrm>
          <a:prstGeom prst="rect">
            <a:avLst/>
          </a:prstGeom>
          <a:solidFill>
            <a:srgbClr val="EB6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B6B6B"/>
                </a:solidFill>
              </a:rPr>
              <a:t>7</a:t>
            </a:r>
          </a:p>
        </p:txBody>
      </p:sp>
      <p:sp>
        <p:nvSpPr>
          <p:cNvPr id="8" name="Chevron 7"/>
          <p:cNvSpPr/>
          <p:nvPr/>
        </p:nvSpPr>
        <p:spPr>
          <a:xfrm>
            <a:off x="822960" y="1828800"/>
            <a:ext cx="2971800" cy="960120"/>
          </a:xfrm>
          <a:prstGeom prst="chevron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Hook</a:t>
            </a:r>
          </a:p>
          <a:p>
            <a:pPr algn="ctr"/>
            <a:r>
              <a:rPr sz="1300" b="0">
                <a:solidFill>
                  <a:srgbClr val="D8E2EF"/>
                </a:solidFill>
              </a:rPr>
              <a:t>anında düzeltir</a:t>
            </a:r>
          </a:p>
        </p:txBody>
      </p:sp>
      <p:sp>
        <p:nvSpPr>
          <p:cNvPr id="9" name="Chevron 8"/>
          <p:cNvSpPr/>
          <p:nvPr/>
        </p:nvSpPr>
        <p:spPr>
          <a:xfrm>
            <a:off x="3520440" y="1828800"/>
            <a:ext cx="2971800" cy="960120"/>
          </a:xfrm>
          <a:prstGeom prst="chevron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Kalite kapıları</a:t>
            </a:r>
          </a:p>
          <a:p>
            <a:pPr algn="ctr"/>
            <a:r>
              <a:rPr sz="1300" b="0">
                <a:solidFill>
                  <a:srgbClr val="D8E2EF"/>
                </a:solidFill>
              </a:rPr>
              <a:t>lokalde doğrular</a:t>
            </a:r>
          </a:p>
        </p:txBody>
      </p:sp>
      <p:sp>
        <p:nvSpPr>
          <p:cNvPr id="10" name="Chevron 9"/>
          <p:cNvSpPr/>
          <p:nvPr/>
        </p:nvSpPr>
        <p:spPr>
          <a:xfrm>
            <a:off x="6217920" y="1828800"/>
            <a:ext cx="2971800" cy="960120"/>
          </a:xfrm>
          <a:prstGeom prst="chevron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CI</a:t>
            </a:r>
          </a:p>
          <a:p>
            <a:pPr algn="ctr"/>
            <a:r>
              <a:rPr sz="1300" b="0">
                <a:solidFill>
                  <a:srgbClr val="D8E2EF"/>
                </a:solidFill>
              </a:rPr>
              <a:t>merge'i engeller</a:t>
            </a:r>
          </a:p>
        </p:txBody>
      </p:sp>
      <p:sp>
        <p:nvSpPr>
          <p:cNvPr id="11" name="Chevron 10"/>
          <p:cNvSpPr/>
          <p:nvPr/>
        </p:nvSpPr>
        <p:spPr>
          <a:xfrm>
            <a:off x="8915400" y="1828800"/>
            <a:ext cx="2971800" cy="960120"/>
          </a:xfrm>
          <a:prstGeom prst="chevron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Review</a:t>
            </a:r>
          </a:p>
          <a:p>
            <a:pPr algn="ctr"/>
            <a:r>
              <a:rPr sz="1300" b="0">
                <a:solidFill>
                  <a:srgbClr val="D8E2EF"/>
                </a:solidFill>
              </a:rPr>
              <a:t>kanıtı okur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46120"/>
            <a:ext cx="3291840" cy="960120"/>
          </a:xfrm>
          <a:prstGeom prst="roundRect">
            <a:avLst/>
          </a:prstGeom>
          <a:solidFill>
            <a:srgbClr val="F1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333333"/>
                </a:solidFill>
              </a:rPr>
              <a:t>format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değişen dosya otomatik biçimlenir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246120"/>
            <a:ext cx="3291840" cy="960120"/>
          </a:xfrm>
          <a:prstGeom prst="roundRect">
            <a:avLst/>
          </a:prstGeom>
          <a:solidFill>
            <a:srgbClr val="F1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333333"/>
                </a:solidFill>
              </a:rPr>
              <a:t>drift hatırlatma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kod değişti, docs değişmediyse uyarır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246120"/>
            <a:ext cx="3291840" cy="960120"/>
          </a:xfrm>
          <a:prstGeom prst="roundRect">
            <a:avLst/>
          </a:prstGeom>
          <a:solidFill>
            <a:srgbClr val="F1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333333"/>
                </a:solidFill>
              </a:rPr>
              <a:t>SQL reddi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analistte yazma/DDL çağrısı reddedilir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617720"/>
            <a:ext cx="10607040" cy="86868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</a:rPr>
              <a:t>Her task en az bir test getirir — klasörler sözleşmedir: unit · integration/component · contract/e2e · smoke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B690B"/>
                </a:solidFill>
              </a:rPr>
              <a:t>MALİYET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3A5C"/>
                </a:solidFill>
              </a:rPr>
              <a:t>Token ve maliyet yönetimi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61872"/>
            <a:ext cx="1371600" cy="54864"/>
          </a:xfrm>
          <a:prstGeom prst="rect">
            <a:avLst/>
          </a:prstGeom>
          <a:solidFill>
            <a:srgbClr val="EB6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B6B6B"/>
                </a:solidFill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1920240"/>
            <a:ext cx="4754880" cy="14630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</a:rPr>
              <a:t>Kısa doküman</a:t>
            </a:r>
          </a:p>
          <a:p>
            <a:pPr algn="ctr"/>
            <a:r>
              <a:rPr sz="1400" b="0">
                <a:solidFill>
                  <a:srgbClr val="D8E2EF"/>
                </a:solidFill>
              </a:rPr>
              <a:t>AGENTS ≤130, skill ≤60 satır — bağlam her istekte ödenir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4754880" cy="14630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</a:rPr>
              <a:t>Skill on-demand</a:t>
            </a:r>
          </a:p>
          <a:p>
            <a:pPr algn="ctr"/>
            <a:r>
              <a:rPr sz="1400" b="0">
                <a:solidFill>
                  <a:srgbClr val="D8E2EF"/>
                </a:solidFill>
              </a:rPr>
              <a:t>yalnız ilgili tarif yüklenir (progressive disclosure)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3703320"/>
            <a:ext cx="4754880" cy="14630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</a:rPr>
              <a:t>Code index</a:t>
            </a:r>
          </a:p>
          <a:p>
            <a:pPr algn="ctr"/>
            <a:r>
              <a:rPr sz="1400" b="0">
                <a:solidFill>
                  <a:srgbClr val="D8E2EF"/>
                </a:solidFill>
              </a:rPr>
              <a:t>GitHub'ın semantik indeksi otomatik ve ücretsiz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03320"/>
            <a:ext cx="4754880" cy="1463040"/>
          </a:xfrm>
          <a:prstGeom prst="roundRect">
            <a:avLst/>
          </a:prstGeom>
          <a:solidFill>
            <a:srgbClr val="EB6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</a:rPr>
              <a:t>Model karması</a:t>
            </a:r>
          </a:p>
          <a:p>
            <a:pPr algn="ctr"/>
            <a:r>
              <a:rPr sz="1400" b="0">
                <a:solidFill>
                  <a:srgbClr val="D8E2EF"/>
                </a:solidFill>
              </a:rPr>
              <a:t>ucuz model yazar, en güçlü model review eder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62356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B6B6B"/>
                </a:solidFill>
              </a:rPr>
              <a:t>Büyük repolarda ek MCP indeksleri değerlendirilir (claude-context, codebase-memory-mcp).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B690B"/>
                </a:solidFill>
              </a:rPr>
              <a:t>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3A5C"/>
                </a:solidFill>
              </a:rPr>
              <a:t>Yol haritası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61872"/>
            <a:ext cx="1371600" cy="54864"/>
          </a:xfrm>
          <a:prstGeom prst="rect">
            <a:avLst/>
          </a:prstGeom>
          <a:solidFill>
            <a:srgbClr val="EB6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B6B6B"/>
                </a:solidFill>
              </a:rPr>
              <a:t>9</a:t>
            </a:r>
          </a:p>
        </p:txBody>
      </p:sp>
      <p:sp>
        <p:nvSpPr>
          <p:cNvPr id="8" name="Chevron 7"/>
          <p:cNvSpPr/>
          <p:nvPr/>
        </p:nvSpPr>
        <p:spPr>
          <a:xfrm>
            <a:off x="640080" y="2377440"/>
            <a:ext cx="2468880" cy="1371600"/>
          </a:xfrm>
          <a:prstGeom prst="chevron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Faz 0 · Hazırlık</a:t>
            </a:r>
          </a:p>
          <a:p>
            <a:pPr algn="ctr"/>
            <a:r>
              <a:rPr sz="1100" b="0">
                <a:solidFill>
                  <a:srgbClr val="D8E2EF"/>
                </a:solidFill>
              </a:rPr>
              <a:t>lisans · read-only DB · MCP onayı</a:t>
            </a:r>
          </a:p>
        </p:txBody>
      </p:sp>
      <p:sp>
        <p:nvSpPr>
          <p:cNvPr id="9" name="Chevron 8"/>
          <p:cNvSpPr/>
          <p:nvPr/>
        </p:nvSpPr>
        <p:spPr>
          <a:xfrm>
            <a:off x="2852928" y="2377440"/>
            <a:ext cx="2468880" cy="1371600"/>
          </a:xfrm>
          <a:prstGeom prst="chevron">
            <a:avLst/>
          </a:prstGeom>
          <a:solidFill>
            <a:srgbClr val="2C5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Faz 1 · Pilot</a:t>
            </a:r>
          </a:p>
          <a:p>
            <a:pPr algn="ctr"/>
            <a:r>
              <a:rPr sz="1100" b="0">
                <a:solidFill>
                  <a:srgbClr val="D8E2EF"/>
                </a:solidFill>
              </a:rPr>
              <a:t>3 repo + bootstrap + hook/test</a:t>
            </a:r>
          </a:p>
        </p:txBody>
      </p:sp>
      <p:sp>
        <p:nvSpPr>
          <p:cNvPr id="10" name="Chevron 9"/>
          <p:cNvSpPr/>
          <p:nvPr/>
        </p:nvSpPr>
        <p:spPr>
          <a:xfrm>
            <a:off x="5065776" y="2377440"/>
            <a:ext cx="2468880" cy="1371600"/>
          </a:xfrm>
          <a:prstGeom prst="chevron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Faz 2 · Yayılım</a:t>
            </a:r>
          </a:p>
          <a:p>
            <a:pPr algn="ctr"/>
            <a:r>
              <a:rPr sz="1100" b="0">
                <a:solidFill>
                  <a:srgbClr val="D8E2EF"/>
                </a:solidFill>
              </a:rPr>
              <a:t>kalan repolar + eğitim</a:t>
            </a:r>
          </a:p>
        </p:txBody>
      </p:sp>
      <p:sp>
        <p:nvSpPr>
          <p:cNvPr id="11" name="Chevron 10"/>
          <p:cNvSpPr/>
          <p:nvPr/>
        </p:nvSpPr>
        <p:spPr>
          <a:xfrm>
            <a:off x="7278624" y="2377440"/>
            <a:ext cx="2468880" cy="1371600"/>
          </a:xfrm>
          <a:prstGeom prst="chevron">
            <a:avLst/>
          </a:prstGeom>
          <a:solidFill>
            <a:srgbClr val="2C5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Faz 3 · Analist</a:t>
            </a:r>
          </a:p>
          <a:p>
            <a:pPr algn="ctr"/>
            <a:r>
              <a:rPr sz="1100" b="0">
                <a:solidFill>
                  <a:srgbClr val="D8E2EF"/>
                </a:solidFill>
              </a:rPr>
              <a:t>workspace + ilk gerçek task'lar</a:t>
            </a:r>
          </a:p>
        </p:txBody>
      </p:sp>
      <p:sp>
        <p:nvSpPr>
          <p:cNvPr id="12" name="Chevron 11"/>
          <p:cNvSpPr/>
          <p:nvPr/>
        </p:nvSpPr>
        <p:spPr>
          <a:xfrm>
            <a:off x="9491472" y="2377440"/>
            <a:ext cx="2468880" cy="1371600"/>
          </a:xfrm>
          <a:prstGeom prst="chevron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Faz 4 · Ölçüm</a:t>
            </a:r>
          </a:p>
          <a:p>
            <a:pPr algn="ctr"/>
            <a:r>
              <a:rPr sz="1100" b="0">
                <a:solidFill>
                  <a:srgbClr val="D8E2EF"/>
                </a:solidFill>
              </a:rPr>
              <a:t>KPI · retro · standardın evrimi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333333"/>
                </a:solidFill>
              </a:rPr>
              <a:t>Detaylar (iş kalemleri, KPI'lar, riskler): yol-haritasi.xlsx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091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B6B6B"/>
                </a:solidFill>
              </a:rPr>
              <a:t>Hedef metrikler: task geri dönüşü &lt; %15 · PR süresi %30 kısalır · doküman tazeliği aylık taranır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B690B"/>
                </a:solidFill>
              </a:rPr>
              <a:t>KAPANIŞ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3A5C"/>
                </a:solidFill>
              </a:rPr>
              <a:t>Sonraki adımlar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61872"/>
            <a:ext cx="1371600" cy="54864"/>
          </a:xfrm>
          <a:prstGeom prst="rect">
            <a:avLst/>
          </a:prstGeom>
          <a:solidFill>
            <a:srgbClr val="EB6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B6B6B"/>
                </a:solidFill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48640" cy="548640"/>
          </a:xfrm>
          <a:prstGeom prst="roundRect">
            <a:avLst/>
          </a:prstGeom>
          <a:solidFill>
            <a:srgbClr val="EB6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7451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333333"/>
                </a:solidFill>
              </a:rPr>
              <a:t>Pilot repoları seç: 1 frontend, 1 Python, 1 .NET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97480"/>
            <a:ext cx="548640" cy="548640"/>
          </a:xfrm>
          <a:prstGeom prst="roundRect">
            <a:avLst/>
          </a:prstGeom>
          <a:solidFill>
            <a:srgbClr val="EB6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743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333333"/>
                </a:solidFill>
              </a:rPr>
              <a:t>Platform: read-only DB login'leri + onaylı MCP listesi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66160"/>
            <a:ext cx="548640" cy="548640"/>
          </a:xfrm>
          <a:prstGeom prst="roundRect">
            <a:avLst/>
          </a:prstGeom>
          <a:solidFill>
            <a:srgbClr val="EB6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61187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333333"/>
                </a:solidFill>
              </a:rPr>
              <a:t>DoD ve task şablonunu liderlikle onayla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434840"/>
            <a:ext cx="548640" cy="548640"/>
          </a:xfrm>
          <a:prstGeom prst="roundRect">
            <a:avLst/>
          </a:prstGeom>
          <a:solidFill>
            <a:srgbClr val="EB6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48055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333333"/>
                </a:solidFill>
              </a:rPr>
              <a:t>2 hafta sonra pilot retrosu: şablonlar deneyimle güncellenir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486400"/>
            <a:ext cx="10607040" cy="8686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Her şey ai-transformation/ klasöründe — dolu örnek: examples/python-service-example · rehberler: rehber, yapı-rehberi, mcp-rehberi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